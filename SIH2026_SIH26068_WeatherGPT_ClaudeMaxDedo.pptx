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Problem Statement ID –</a:t>
            </a:r>
            <a:r>
              <a:rPr sz="1700" b="0">
                <a:solidFill>
                  <a:srgbClr val="2563EB"/>
                </a:solidFill>
                <a:latin typeface="Arial"/>
              </a:rPr>
              <a:t> SIH26068</a:t>
            </a:r>
            <a:endParaRPr lang="en-US" dirty="0"/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Problem Statement Title-</a:t>
            </a:r>
            <a:r>
              <a:rPr sz="1700" b="0">
                <a:solidFill>
                  <a:srgbClr val="2563EB"/>
                </a:solidFill>
                <a:latin typeface="Arial"/>
              </a:rPr>
              <a:t> Weather GPT: Conversational AI for Weather Forecasting, Alerts, and Climate Information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Theme-</a:t>
            </a:r>
            <a:r>
              <a:rPr sz="1700" b="0">
                <a:solidFill>
                  <a:srgbClr val="2563EB"/>
                </a:solidFill>
                <a:latin typeface="Arial"/>
              </a:rPr>
              <a:t> Disaster Management &amp; Climate Tech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PS Category-</a:t>
            </a:r>
            <a:r>
              <a:rPr sz="1700" b="0">
                <a:solidFill>
                  <a:srgbClr val="2563EB"/>
                </a:solidFill>
                <a:latin typeface="Arial"/>
              </a:rPr>
              <a:t> Software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Team ID-</a:t>
            </a:r>
            <a:r>
              <a:rPr sz="1700" b="0">
                <a:solidFill>
                  <a:srgbClr val="2563EB"/>
                </a:solidFill>
                <a:latin typeface="Arial"/>
              </a:rPr>
              <a:t> [Team ID]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Team Name (Registered on portal)-</a:t>
            </a:r>
            <a:r>
              <a:rPr sz="1700" b="0">
                <a:solidFill>
                  <a:srgbClr val="2563EB"/>
                </a:solidFill>
                <a:latin typeface="Arial"/>
              </a:rPr>
              <a:t> ClaudeMaxDedo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300" b="1">
                <a:solidFill>
                  <a:srgbClr val="1E3A8A"/>
                </a:solidFill>
                <a:latin typeface="Arial"/>
              </a:rPr>
              <a:t>WEATHERGPT — AUTONOMOUS WEATHER &amp; MARITIME INTELLIGENCE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250" b="1">
                <a:solidFill>
                  <a:srgbClr val="1E3A8A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WeatherGPT Platform: </a:t>
            </a:r>
            <a:r>
              <a:rPr sz="1000" b="0">
                <a:solidFill>
                  <a:srgbClr val="334155"/>
                </a:solidFill>
                <a:latin typeface="Arial"/>
              </a:rPr>
              <a:t>An autonomous multi-sector conversational weather intelligence engine bridging supercomputer NWP models (GFS/WRF) with vernacular Indic voice delivery (Bhashini AI) and sub-second geofenced disaster early warnings (PostGIS + Uber H3).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Detailed explanation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Decoupled 7-Layer Microservices Stack: </a:t>
            </a:r>
            <a:r>
              <a:rPr sz="1000" b="0">
                <a:solidFill>
                  <a:srgbClr val="334155"/>
                </a:solidFill>
                <a:latin typeface="Arial"/>
              </a:rPr>
              <a:t>Isolates heavy scientific binary data parsing (NetCDF/GRIB2) from conversational AI to guarantee real-time latency (&lt;150ms).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Agentic Tool-Calling Router (LangGraph): </a:t>
            </a:r>
            <a:r>
              <a:rPr sz="1000" b="0">
                <a:solidFill>
                  <a:srgbClr val="334155"/>
                </a:solidFill>
                <a:latin typeface="Arial"/>
              </a:rPr>
              <a:t>Routes queries deterministically to live APIs (Open-Meteo, IMD, S3 Zarr) without allowing the LLM to hallucinate meteorological numbers.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Low-Bandwidth Indic Voice Cascade: </a:t>
            </a:r>
            <a:r>
              <a:rPr sz="1000" b="0">
                <a:solidFill>
                  <a:srgbClr val="334155"/>
                </a:solidFill>
                <a:latin typeface="Arial"/>
              </a:rPr>
              <a:t>Integrates AI4Bharat Bhashini across 22 scheduled languages with rural acoustic noise filtering and custom glossary normalization.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How it addresses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Solves the 'Last-Mile Interpretation Deficit': </a:t>
            </a:r>
            <a:r>
              <a:rPr sz="1000" b="0">
                <a:solidFill>
                  <a:srgbClr val="334155"/>
                </a:solidFill>
                <a:latin typeface="Arial"/>
              </a:rPr>
              <a:t>India loses ₹1.5 Lakh Crore ($15-18B) annually because raw atmospheric data ('35mm rain, 85% RH') fails to translate into actionable advice for farmers, fishermen, aviation pilots, and city municipal engineers.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Proactive Push vs Passive Apps: </a:t>
            </a:r>
            <a:r>
              <a:rPr sz="1000" b="0">
                <a:solidFill>
                  <a:srgbClr val="334155"/>
                </a:solidFill>
                <a:latin typeface="Arial"/>
              </a:rPr>
              <a:t>Replaces passive dashboards (Meghdoot/Damini) with geo-targeted WhatsApp audio notes and CAP 1.2 emergency broadcasts.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Innovation and uniqueness of the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Zero-Copy Cloud Slicing: </a:t>
            </a:r>
            <a:r>
              <a:rPr sz="1000" b="0">
                <a:solidFill>
                  <a:srgbClr val="334155"/>
                </a:solidFill>
                <a:latin typeface="Arial"/>
              </a:rPr>
              <a:t>Streams specific coordinates from AWS S3 GFS models via Kerchunk byte-range metadata, dropping data payload by 99.5%.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Strict Decoupled Assertion Node: </a:t>
            </a:r>
            <a:r>
              <a:rPr sz="1000" b="0">
                <a:solidFill>
                  <a:srgbClr val="334155"/>
                </a:solidFill>
                <a:latin typeface="Arial"/>
              </a:rPr>
              <a:t>Regex fact-checking layer compares LLM text against raw API JSON payloads, enforcing 0.00% numerical hallucinations.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E3A8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43000"/>
            <a:ext cx="1097280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E3A8A"/>
                </a:solidFill>
                <a:latin typeface="Arial"/>
              </a:rPr>
              <a:t>Technologies to be used (e.g. programming languages, frameworks, hardware)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Core Stack &amp; Data Pipeline: </a:t>
            </a:r>
            <a:r>
              <a:rPr sz="950" b="0">
                <a:solidFill>
                  <a:srgbClr val="334155"/>
                </a:solidFill>
                <a:latin typeface="Arial"/>
              </a:rPr>
              <a:t>Python 3.12, FastAPI (Async), Redis Cache (&lt;50ms), Celery Workers, WMO WIS 2.0 MQTT 5.0, AWS S3 GFS NetCDF4 (Kerchunk/Zarr), PostGIS 3.4, Uber H3 Indexing.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AI Models &amp; Client Delivery: </a:t>
            </a:r>
            <a:r>
              <a:rPr sz="950" b="0">
                <a:solidFill>
                  <a:srgbClr val="334155"/>
                </a:solidFill>
                <a:latin typeface="Arial"/>
              </a:rPr>
              <a:t>LangGraph State Machine, GPT-4o / Llama-3, Pydantic Schema Guards, MeitY Bhashini STT/TTS (22 Dialects), Next.js 14 WebSockets, Meta WhatsApp Cloud API.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Live Working Prototype &amp; Verification: </a:t>
            </a:r>
            <a:r>
              <a:rPr sz="950" b="0">
                <a:solidFill>
                  <a:srgbClr val="334155"/>
                </a:solidFill>
                <a:latin typeface="Arial"/>
              </a:rPr>
              <a:t>Deployed live on Vercel at https://sih-2026-portfolio-two.vercel.app/weathergpt (52 automated regression tests passed, sub-150ms live API response).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weathergpt_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0592"/>
            <a:ext cx="108813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E3A8A"/>
                </a:solidFill>
                <a:latin typeface="Arial"/>
              </a:rPr>
              <a:t>FEASIBILITY, RISK ANALYSIS &amp; SAFEGUARDS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E3A8A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Open Infrastructure Grounding: </a:t>
            </a:r>
            <a:r>
              <a:rPr sz="1000" b="0">
                <a:solidFill>
                  <a:srgbClr val="334155"/>
                </a:solidFill>
                <a:latin typeface="Arial"/>
              </a:rPr>
              <a:t>Built entirely upon operational national and international standards (WMO WIS 2.0, AWS Open Data, Bhashini API).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Cost-Effective Stateless Scalability: </a:t>
            </a:r>
            <a:r>
              <a:rPr sz="1000" b="0">
                <a:solidFill>
                  <a:srgbClr val="334155"/>
                </a:solidFill>
                <a:latin typeface="Arial"/>
              </a:rPr>
              <a:t>Zero-copy byte streaming eliminates multi-terabyte data warehousing costs, allowing elastic scaling to millions of daily users.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Potential challenges and risks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1. Binary NWP Bloat &amp; Compute Lag: </a:t>
            </a:r>
            <a:r>
              <a:rPr sz="1000" b="0">
                <a:solidFill>
                  <a:srgbClr val="334155"/>
                </a:solidFill>
                <a:latin typeface="Arial"/>
              </a:rPr>
              <a:t>Downloading 10 GB GRIB2 files causes 15+ second API timeouts on traditional web servers.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2. High-Stakes Hallucination Liability: </a:t>
            </a:r>
            <a:r>
              <a:rPr sz="1000" b="0">
                <a:solidFill>
                  <a:srgbClr val="334155"/>
                </a:solidFill>
                <a:latin typeface="Arial"/>
              </a:rPr>
              <a:t>Probabilistic LLMs hallucinating storm dates, rainfall volumes, or wind speeds can cause fatal evacuation failures.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3. Rural Dialect Acoustic Distortion: </a:t>
            </a:r>
            <a:r>
              <a:rPr sz="1000" b="0">
                <a:solidFill>
                  <a:srgbClr val="334155"/>
                </a:solidFill>
                <a:latin typeface="Arial"/>
              </a:rPr>
              <a:t>Standard English voice models degrade when parsing noisy agricultural background audio and rural idioms.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Strategies for overcoming these challenges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1. Kerchunk Byte-Range Indexing: </a:t>
            </a:r>
            <a:r>
              <a:rPr sz="1000" b="0">
                <a:solidFill>
                  <a:srgbClr val="334155"/>
                </a:solidFill>
                <a:latin typeface="Arial"/>
              </a:rPr>
              <a:t>Fetches only specific coordinate byte slices directly from S3, slashing processing time from 15s to &lt;300ms.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2. Deterministic Tool-Calling &amp; Schema Locking: </a:t>
            </a:r>
            <a:r>
              <a:rPr sz="1000" b="0">
                <a:solidFill>
                  <a:srgbClr val="334155"/>
                </a:solidFill>
                <a:latin typeface="Arial"/>
              </a:rPr>
              <a:t>LLM operates strictly as intent parser; raw numbers come from validated APIs with regex fact-checkers.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3. Bhashini Acoustic Normalizer &amp; Glossary Map: </a:t>
            </a:r>
            <a:r>
              <a:rPr sz="1000" b="0">
                <a:solidFill>
                  <a:srgbClr val="334155"/>
                </a:solidFill>
                <a:latin typeface="Arial"/>
              </a:rPr>
              <a:t>Domain dictionary maps colloquial terms (e.g., 'toofani baarish' -&gt; 'convective squall') before agent ingestion.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E3A8A"/>
                </a:solidFill>
                <a:latin typeface="Arial"/>
              </a:rPr>
              <a:t>QUANTIFIED IMPACT &amp; MULTI-SECTOR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E3A8A"/>
                </a:solidFill>
                <a:latin typeface="Arial"/>
              </a:rPr>
              <a:t>Potential impact on the target audience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Smallholder Farmers (140M+): </a:t>
            </a:r>
            <a:r>
              <a:rPr sz="1000" b="0">
                <a:solidFill>
                  <a:srgbClr val="334155"/>
                </a:solidFill>
                <a:latin typeface="Arial"/>
              </a:rPr>
              <a:t>Receive plot-specific spraying/sowing audio advice in regional dialects, preventing premature harvesting and seed germination loss.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Coastal Traditional Fishermen: </a:t>
            </a:r>
            <a:r>
              <a:rPr sz="1000" b="0">
                <a:solidFill>
                  <a:srgbClr val="334155"/>
                </a:solidFill>
                <a:latin typeface="Arial"/>
              </a:rPr>
              <a:t>Receive localized wave-height (meters) and squall return deadlines instead of confusing atmospheric pressure hectopascals.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Commercial Aviation Logistics: </a:t>
            </a:r>
            <a:r>
              <a:rPr sz="1000" b="0">
                <a:solidFill>
                  <a:srgbClr val="334155"/>
                </a:solidFill>
                <a:latin typeface="Arial"/>
              </a:rPr>
              <a:t>Instant METAR/TAF runway wind shear briefings, eliminating unnecessary holding patterns and mid-air fuel burn waste.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Smart City Disaster Managers: </a:t>
            </a:r>
            <a:r>
              <a:rPr sz="1000" b="0">
                <a:solidFill>
                  <a:srgbClr val="334155"/>
                </a:solidFill>
                <a:latin typeface="Arial"/>
              </a:rPr>
              <a:t>Sub-second H3 polygon matching for block-level cloudburst warnings to clear drainage choke-points prior to flooding.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Benefits of the solution (social, economic, environmental,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Economic Impact: </a:t>
            </a:r>
            <a:r>
              <a:rPr sz="1000" b="0">
                <a:solidFill>
                  <a:srgbClr val="334155"/>
                </a:solidFill>
                <a:latin typeface="Arial"/>
              </a:rPr>
              <a:t>Mitigates portion of India's ₹1.2–1.5 Lakh Crore annual weather crop destruction and ₹40,000 Crore disaster relief misallocation.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Social Inclusion: </a:t>
            </a:r>
            <a:r>
              <a:rPr sz="1000" b="0">
                <a:solidFill>
                  <a:srgbClr val="334155"/>
                </a:solidFill>
                <a:latin typeface="Arial"/>
              </a:rPr>
              <a:t>Bypasses the literacy barrier through hands-free WhatsApp voice notes in local dialects (Marathi, Bhojpuri, Tamil, Telugu, Hindi).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Environmental Protection: </a:t>
            </a:r>
            <a:r>
              <a:rPr sz="1000" b="0">
                <a:solidFill>
                  <a:srgbClr val="334155"/>
                </a:solidFill>
                <a:latin typeface="Arial"/>
              </a:rPr>
              <a:t>Prevents chemical pesticide and fertilizer runoff into ground water tables by blocking applications prior to heavy downpours.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E3A8A"/>
                </a:solidFill>
                <a:latin typeface="Arial"/>
              </a:rPr>
              <a:t>RESEARCH FOUNDATIONS &amp; OFFICIAL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E3A8A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WMO WIS 2.0 Global Architecture: </a:t>
            </a:r>
            <a:r>
              <a:rPr sz="1000" b="0">
                <a:solidFill>
                  <a:srgbClr val="334155"/>
                </a:solidFill>
                <a:latin typeface="Arial"/>
              </a:rPr>
              <a:t>World Meteorological Organization Guide on MQTT event-driven data dissemination (WIS2 Standards, 2024).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NOAA Global Forecast System (GFS) on AWS: </a:t>
            </a:r>
            <a:r>
              <a:rPr sz="1000" b="0">
                <a:solidFill>
                  <a:srgbClr val="334155"/>
                </a:solidFill>
                <a:latin typeface="Arial"/>
              </a:rPr>
              <a:t>Cloud-Optimized GRIB2/Zarr meteorological data feeds hosted on Registry of Open Data on AWS.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AI4Bharat Bhashini Speech Infrastructure: </a:t>
            </a:r>
            <a:r>
              <a:rPr sz="1000" b="0">
                <a:solidFill>
                  <a:srgbClr val="334155"/>
                </a:solidFill>
                <a:latin typeface="Arial"/>
              </a:rPr>
              <a:t>MeitY Digital India Bhashini Language Repository, Conformer-CTC acoustic models &amp; IndicTrans2 (IIT Madras).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IMD Vision-2047 Framework: </a:t>
            </a:r>
            <a:r>
              <a:rPr sz="1000" b="0">
                <a:solidFill>
                  <a:srgbClr val="334155"/>
                </a:solidFill>
                <a:latin typeface="Arial"/>
              </a:rPr>
              <a:t>India Meteorological Department, Ministry of Earth Sciences strategic roadmap for hyperlocal weather dissemination.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Macro-Economic Impact Documentation: </a:t>
            </a:r>
            <a:r>
              <a:rPr sz="1000" b="0">
                <a:solidFill>
                  <a:srgbClr val="334155"/>
                </a:solidFill>
                <a:latin typeface="Arial"/>
              </a:rPr>
              <a:t>World Economic Forum (WEF) Climate Volatility Report &amp; NITI Aayog Study on Agricultural Production Economics.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Live Production Prototype &amp; Source Code: </a:t>
            </a:r>
            <a:r>
              <a:rPr sz="1000" b="0">
                <a:solidFill>
                  <a:srgbClr val="334155"/>
                </a:solidFill>
                <a:latin typeface="Arial"/>
              </a:rPr>
              <a:t>Evaluator Portal: https://sih-2026-portfolio-two.vercel.app/weathergpt | GitHub: https://github.com/lohitakshcodes/claudemaxdedo-sih2026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