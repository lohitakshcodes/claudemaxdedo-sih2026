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Problem Statement ID –</a:t>
            </a:r>
            <a:r>
              <a:rPr sz="1700" b="0">
                <a:solidFill>
                  <a:srgbClr val="2563EB"/>
                </a:solidFill>
                <a:latin typeface="Arial"/>
              </a:rPr>
              <a:t> SIH26068</a:t>
            </a:r>
            <a:endParaRPr lang="en-US" dirty="0"/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Problem Statement Title-</a:t>
            </a:r>
            <a:r>
              <a:rPr sz="1700" b="0">
                <a:solidFill>
                  <a:srgbClr val="2563EB"/>
                </a:solidFill>
                <a:latin typeface="Arial"/>
              </a:rPr>
              <a:t> Weather GPT: Conversational AI for Weather Forecasting, Alerts, and Climate Information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Theme-</a:t>
            </a:r>
            <a:r>
              <a:rPr sz="1700" b="0">
                <a:solidFill>
                  <a:srgbClr val="2563EB"/>
                </a:solidFill>
                <a:latin typeface="Arial"/>
              </a:rPr>
              <a:t> Disaster Management &amp; Climate Tech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PS Category-</a:t>
            </a:r>
            <a:r>
              <a:rPr sz="1700" b="0">
                <a:solidFill>
                  <a:srgbClr val="2563EB"/>
                </a:solidFill>
                <a:latin typeface="Arial"/>
              </a:rPr>
              <a:t> Software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Team ID-</a:t>
            </a:r>
            <a:r>
              <a:rPr sz="1700" b="0">
                <a:solidFill>
                  <a:srgbClr val="2563EB"/>
                </a:solidFill>
                <a:latin typeface="Arial"/>
              </a:rPr>
              <a:t> [Team ID]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Team Name (Registered on portal)-</a:t>
            </a:r>
            <a:r>
              <a:rPr sz="1700" b="0">
                <a:solidFill>
                  <a:srgbClr val="2563EB"/>
                </a:solidFill>
                <a:latin typeface="Arial"/>
              </a:rPr>
              <a:t> ClaudeMaxDedo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E3A8A"/>
                </a:solidFill>
                <a:latin typeface="Arial"/>
              </a:rPr>
              <a:t>WEATHERGPT — AUTONOMOUS WEATHER &amp; MARITIME INTELLIGENCE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94360" y="1115568"/>
            <a:ext cx="489204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WeatherGPT Platform: </a:t>
            </a:r>
            <a:r>
              <a:rPr sz="950" b="0">
                <a:solidFill>
                  <a:srgbClr val="334155"/>
                </a:solidFill>
                <a:latin typeface="Arial"/>
              </a:rPr>
              <a:t>An autonomous multi-sector weather intelligence engine linking NWP models (GFS/WRF) with vernacular Indic voice delivery (Bhashini AI) and sub-second geofenced warnings.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Detailed explanation of the proposed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Decoupled 7-Layer Stack: </a:t>
            </a:r>
            <a:r>
              <a:rPr sz="950" b="0">
                <a:solidFill>
                  <a:srgbClr val="334155"/>
                </a:solidFill>
                <a:latin typeface="Arial"/>
              </a:rPr>
              <a:t>Isolates heavy scientific binary data parsing (NetCDF/GRIB2) from conversational AI to guarantee real-time latency (&lt;150ms).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Agentic Tool Router (LangGraph): </a:t>
            </a:r>
            <a:r>
              <a:rPr sz="950" b="0">
                <a:solidFill>
                  <a:srgbClr val="334155"/>
                </a:solidFill>
                <a:latin typeface="Arial"/>
              </a:rPr>
              <a:t>Deterministic tool-calling routes requests without allowing the LLM to guess meteorological numbers.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How it addresses the problem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Solves Last-Mile Deficit: </a:t>
            </a:r>
            <a:r>
              <a:rPr sz="950" b="0">
                <a:solidFill>
                  <a:srgbClr val="334155"/>
                </a:solidFill>
                <a:latin typeface="Arial"/>
              </a:rPr>
              <a:t>India loses ₹1.5L Crore ($15-18B) annually because raw data ('35mm rain, 85% RH') fails to translate into actionable advice for farmers, pilots, and fishermen.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Proactive Push vs Passive Apps: </a:t>
            </a:r>
            <a:r>
              <a:rPr sz="950" b="0">
                <a:solidFill>
                  <a:srgbClr val="334155"/>
                </a:solidFill>
                <a:latin typeface="Arial"/>
              </a:rPr>
              <a:t>Replaces passive dashboards with geo-targeted WhatsApp voice notes and CAP 1.2 emergency broadcasts.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Innovation and uniqueness of the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Zero-Copy Cloud Slicing: </a:t>
            </a:r>
            <a:r>
              <a:rPr sz="950" b="0">
                <a:solidFill>
                  <a:srgbClr val="334155"/>
                </a:solidFill>
                <a:latin typeface="Arial"/>
              </a:rPr>
              <a:t>Streams specific coordinates from AWS S3 via Kerchunk metadata, dropping data payload by 99.5%.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Strict Decoupled Assertion Node: </a:t>
            </a:r>
            <a:r>
              <a:rPr sz="950" b="0">
                <a:solidFill>
                  <a:srgbClr val="334155"/>
                </a:solidFill>
                <a:latin typeface="Arial"/>
              </a:rPr>
              <a:t>Regex fact-checking layer compares LLM text against raw API JSON, enforcing 0.00% hallucinations.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E3A8A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weathergpt_concept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234440"/>
            <a:ext cx="60807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E3A8A"/>
                </a:solidFill>
                <a:latin typeface="Arial"/>
              </a:rPr>
              <a:t>TECHNICAL APPROACH &amp; SYSTEM 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078992"/>
            <a:ext cx="10972800" cy="1234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E3A8A"/>
                </a:solidFill>
                <a:latin typeface="Arial"/>
              </a:rPr>
              <a:t>Technologies to be used (e.g. programming languages, frameworks, hardware)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Core Stack &amp; Data Pipeline: </a:t>
            </a:r>
            <a:r>
              <a:rPr sz="950" b="0">
                <a:solidFill>
                  <a:srgbClr val="334155"/>
                </a:solidFill>
                <a:latin typeface="Arial"/>
              </a:rPr>
              <a:t>Python 3.12, FastAPI (Async), Redis (&lt;50ms), Celery, WMO WIS 2.0 MQTT, AWS S3 GFS NetCDF4 (Kerchunk/Zarr), PostGIS 3.4, Uber H3.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AI Models &amp; Client Delivery: </a:t>
            </a:r>
            <a:r>
              <a:rPr sz="950" b="0">
                <a:solidFill>
                  <a:srgbClr val="334155"/>
                </a:solidFill>
                <a:latin typeface="Arial"/>
              </a:rPr>
              <a:t>LangGraph State Machine, GPT-4o/Llama-3, Pydantic Schema Guards, MeitY Bhashini STT/TTS (22 Dialects), Next.js 14 WebSockets, WhatsApp Cloud API.</a:t>
            </a:r>
          </a:p>
          <a:p>
            <a:pPr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E3A8A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Live Working Prototype Verified: </a:t>
            </a:r>
            <a:r>
              <a:rPr sz="950" b="0">
                <a:solidFill>
                  <a:srgbClr val="334155"/>
                </a:solidFill>
                <a:latin typeface="Arial"/>
              </a:rPr>
              <a:t>Deployed on Vercel at https://sih-2026-portfolio-two.vercel.app/weathergpt (52 automated regression tests passed, sub-150ms live API response).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E3A8A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weathergpt_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1090879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E3A8A"/>
                </a:solidFill>
                <a:latin typeface="Arial"/>
              </a:rPr>
              <a:t>FEASIBILITY, RISK ANALYSIS &amp; SAFEGUARD MATRIX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078992"/>
            <a:ext cx="10972800" cy="1234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ClrTx/>
              <a:buSzTx/>
              <a:tabLst/>
              <a:defRPr/>
              <a:buNone/>
            </a:pPr>
            <a:r>
              <a:rPr sz="1100" b="1">
                <a:solidFill>
                  <a:srgbClr val="1E3A8A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Open Infrastructure Grounding: </a:t>
            </a:r>
            <a:r>
              <a:rPr sz="950" b="0">
                <a:solidFill>
                  <a:srgbClr val="334155"/>
                </a:solidFill>
                <a:latin typeface="Arial"/>
              </a:rPr>
              <a:t>Built upon operational standards (WMO WIS 2.0, AWS Open Data, Bhashini). Stateless serverless architecture scales to millions with zero storage bloat.</a:t>
            </a:r>
          </a:p>
          <a:p>
            <a:pPr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E3A8A"/>
                </a:solidFill>
                <a:latin typeface="Arial"/>
              </a:rPr>
              <a:t>Potential challenges and risks &amp; Strategies for overcoming these challenges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Engineering Safeguards Implemented: </a:t>
            </a:r>
            <a:r>
              <a:rPr sz="950" b="0">
                <a:solidFill>
                  <a:srgbClr val="334155"/>
                </a:solidFill>
                <a:latin typeface="Arial"/>
              </a:rPr>
              <a:t>Kerchunk byte slicing defeats 10GB binary bloat (&lt;300ms); decoupled assertion node eliminates hallucination; Bhashini cascade cleans rural audio noise.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E3A8A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weathergpt_safeguards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10908792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E3A8A"/>
                </a:solidFill>
                <a:latin typeface="Arial"/>
              </a:rPr>
              <a:t>QUANTIFIED IMPACT &amp; MULTI-SECTOR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115568"/>
            <a:ext cx="489204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  <a:buClrTx/>
              <a:buSzTx/>
              <a:tabLst/>
              <a:defRPr/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Potential impact on the target audience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Smallholder Farmers (140M+): </a:t>
            </a:r>
            <a:r>
              <a:rPr sz="950" b="0">
                <a:solidFill>
                  <a:srgbClr val="334155"/>
                </a:solidFill>
                <a:latin typeface="Arial"/>
              </a:rPr>
              <a:t>Plot-specific spraying/sowing voice notes prevent seed and input wash-off.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Coastal Fishermen: </a:t>
            </a:r>
            <a:r>
              <a:rPr sz="950" b="0">
                <a:solidFill>
                  <a:srgbClr val="334155"/>
                </a:solidFill>
                <a:latin typeface="Arial"/>
              </a:rPr>
              <a:t>Colloquial wave-height metrics and squall return deadlines prevent capsizing.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Commercial Aviation Logistics: </a:t>
            </a:r>
            <a:r>
              <a:rPr sz="950" b="0">
                <a:solidFill>
                  <a:srgbClr val="334155"/>
                </a:solidFill>
                <a:latin typeface="Arial"/>
              </a:rPr>
              <a:t>Instant METAR runway briefings eliminate unnecessary holding fuel burn.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Smart City Disaster Managers: </a:t>
            </a:r>
            <a:r>
              <a:rPr sz="950" b="0">
                <a:solidFill>
                  <a:srgbClr val="334155"/>
                </a:solidFill>
                <a:latin typeface="Arial"/>
              </a:rPr>
              <a:t>Sub-second H3 polygon matching for block-level cloudburst drainage alerts.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E3A8A"/>
                </a:solidFill>
                <a:latin typeface="Arial"/>
              </a:rPr>
              <a:t>Benefits of the solution (social, economic, environmental, etc.)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Economic Viability: </a:t>
            </a:r>
            <a:r>
              <a:rPr sz="950" b="0">
                <a:solidFill>
                  <a:srgbClr val="334155"/>
                </a:solidFill>
                <a:latin typeface="Arial"/>
              </a:rPr>
              <a:t>Directly curbs ₹1.5L Cr ($15-18B) annual weather losses and saves ₹40,000 Cr in disaster relief.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Social Inclusion: </a:t>
            </a:r>
            <a:r>
              <a:rPr sz="950" b="0">
                <a:solidFill>
                  <a:srgbClr val="334155"/>
                </a:solidFill>
                <a:latin typeface="Arial"/>
              </a:rPr>
              <a:t>Hands-free 2-way regional voice communication on WhatsApp across 22 dialects.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Environmental Protection: </a:t>
            </a:r>
            <a:r>
              <a:rPr sz="950" b="0">
                <a:solidFill>
                  <a:srgbClr val="334155"/>
                </a:solidFill>
                <a:latin typeface="Arial"/>
              </a:rPr>
              <a:t>Prevents chemical pesticide and fertilizer runoff into ground water tables.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E3A8A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weathergpt_impact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234440"/>
            <a:ext cx="6080760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E3A8A"/>
                </a:solidFill>
                <a:latin typeface="Arial"/>
              </a:rPr>
              <a:t>RESEARCH FOUNDATIONS &amp; OFFICIAL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143000"/>
            <a:ext cx="109728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Tx/>
              <a:buSzTx/>
              <a:tabLst/>
              <a:defRPr/>
              <a:buNone/>
            </a:pPr>
            <a:r>
              <a:rPr sz="1200" b="1">
                <a:solidFill>
                  <a:srgbClr val="1E3A8A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WMO WIS 2.0 Global Architecture: </a:t>
            </a:r>
            <a:r>
              <a:rPr sz="1000" b="0">
                <a:solidFill>
                  <a:srgbClr val="334155"/>
                </a:solidFill>
                <a:latin typeface="Arial"/>
              </a:rPr>
              <a:t>World Meteorological Organization Guide on MQTT event-driven data dissemination (WIS2 Standards, 2024).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NOAA Global Forecast System (GFS) on AWS: </a:t>
            </a:r>
            <a:r>
              <a:rPr sz="1000" b="0">
                <a:solidFill>
                  <a:srgbClr val="334155"/>
                </a:solidFill>
                <a:latin typeface="Arial"/>
              </a:rPr>
              <a:t>Cloud-Optimized GRIB2/Zarr meteorological data feeds hosted on Registry of Open Data on AWS.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AI4Bharat Bhashini Speech Infrastructure: </a:t>
            </a:r>
            <a:r>
              <a:rPr sz="1000" b="0">
                <a:solidFill>
                  <a:srgbClr val="334155"/>
                </a:solidFill>
                <a:latin typeface="Arial"/>
              </a:rPr>
              <a:t>MeitY Digital India Bhashini Language Repository, Conformer-CTC acoustic models &amp; IndicTrans2 (IIT Madras).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IMD Vision-2047 Framework: </a:t>
            </a:r>
            <a:r>
              <a:rPr sz="1000" b="0">
                <a:solidFill>
                  <a:srgbClr val="334155"/>
                </a:solidFill>
                <a:latin typeface="Arial"/>
              </a:rPr>
              <a:t>India Meteorological Department, Ministry of Earth Sciences strategic roadmap for hyperlocal weather dissemination.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Macro-Economic Impact Documentation: </a:t>
            </a:r>
            <a:r>
              <a:rPr sz="1000" b="0">
                <a:solidFill>
                  <a:srgbClr val="334155"/>
                </a:solidFill>
                <a:latin typeface="Arial"/>
              </a:rPr>
              <a:t>World Economic Forum (WEF) Climate Volatility Report &amp; NITI Aayog Study on Agricultural Production Economics.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Live Production Prototype &amp; Source Code: </a:t>
            </a:r>
            <a:r>
              <a:rPr sz="1000" b="0">
                <a:solidFill>
                  <a:srgbClr val="334155"/>
                </a:solidFill>
                <a:latin typeface="Arial"/>
              </a:rPr>
              <a:t>Evaluator Portal: https://sih-2026-portfolio-two.vercel.app/weathergpt | GitHub: https://github.com/lohitakshcodes/claudemaxdedo-sih2026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E3A8A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