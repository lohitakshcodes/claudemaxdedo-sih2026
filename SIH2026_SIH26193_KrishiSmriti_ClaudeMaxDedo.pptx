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Problem Statement ID –</a:t>
            </a:r>
            <a:r>
              <a:rPr sz="1700" b="0">
                <a:solidFill>
                  <a:srgbClr val="166534"/>
                </a:solidFill>
                <a:latin typeface="Arial"/>
              </a:rPr>
              <a:t> SIH26193</a:t>
            </a:r>
            <a:endParaRPr lang="en-US" dirty="0"/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Problem Statement Title-</a:t>
            </a:r>
            <a:r>
              <a:rPr sz="1700" b="0">
                <a:solidFill>
                  <a:srgbClr val="166534"/>
                </a:solidFill>
                <a:latin typeface="Arial"/>
              </a:rPr>
              <a:t> AI-Powered Real-Time Agricultural Advisory &amp; Operational Decision Co-Pilot (KrishiSmriti)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Theme-</a:t>
            </a:r>
            <a:r>
              <a:rPr sz="1700" b="0">
                <a:solidFill>
                  <a:srgbClr val="166534"/>
                </a:solidFill>
                <a:latin typeface="Arial"/>
              </a:rPr>
              <a:t> Agriculture, FoodTech &amp; Rural Development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PS Category-</a:t>
            </a:r>
            <a:r>
              <a:rPr sz="1700" b="0">
                <a:solidFill>
                  <a:srgbClr val="166534"/>
                </a:solidFill>
                <a:latin typeface="Arial"/>
              </a:rPr>
              <a:t> Software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Team ID-</a:t>
            </a:r>
            <a:r>
              <a:rPr sz="1700" b="0">
                <a:solidFill>
                  <a:srgbClr val="166534"/>
                </a:solidFill>
                <a:latin typeface="Arial"/>
              </a:rPr>
              <a:t> [Team ID]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Team Name (Registered on portal)-</a:t>
            </a:r>
            <a:r>
              <a:rPr sz="1700" b="0">
                <a:solidFill>
                  <a:srgbClr val="166534"/>
                </a:solidFill>
                <a:latin typeface="Arial"/>
              </a:rPr>
              <a:t> ClaudeMaxDedo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2300" b="1">
                <a:solidFill>
                  <a:srgbClr val="14532D"/>
                </a:solidFill>
                <a:latin typeface="Arial"/>
              </a:rPr>
              <a:t>KRISHISMRITI — DETERMINISTIC AGRO-INTELLIGENCE &amp; SECOND BRAIN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94360" y="1188720"/>
            <a:ext cx="1097280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sz="1250" b="1">
                <a:solidFill>
                  <a:srgbClr val="14532D"/>
                </a:solidFill>
                <a:latin typeface="Arial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KrishiSmriti (AgriGPT) Decision Engine: </a:t>
            </a:r>
            <a:r>
              <a:rPr sz="1000" b="0">
                <a:solidFill>
                  <a:srgbClr val="334155"/>
                </a:solidFill>
                <a:latin typeface="Arial"/>
              </a:rPr>
              <a:t>An AI-powered 'Second Brain' for smallholder farmers that continuously synthesizes weather forecasts, 12-parameter soil health, mandi prices, and local labor into a single, daily decisive action plan.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50" b="1">
                <a:solidFill>
                  <a:srgbClr val="14532D"/>
                </a:solidFill>
                <a:latin typeface="Arial"/>
              </a:rPr>
              <a:t>Detailed explanation of the proposed solution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4-Layer Autonomous Architecture: </a:t>
            </a:r>
            <a:r>
              <a:rPr sz="1000" b="0">
                <a:solidFill>
                  <a:srgbClr val="334155"/>
                </a:solidFill>
                <a:latin typeface="Arial"/>
              </a:rPr>
              <a:t>Separates multi-source telemetry ingestion from deterministic ICAR math guardrails, filtered vector RAG, and zero-touch vernacular voice delivery.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5 Parallel Telemetry APIs: </a:t>
            </a:r>
            <a:r>
              <a:rPr sz="1000" b="0">
                <a:solidFill>
                  <a:srgbClr val="334155"/>
                </a:solidFill>
                <a:latin typeface="Arial"/>
              </a:rPr>
              <a:t>GPS pin triggers simultaneous calls to Open-Meteo, SoilGrids 250m ISRIC, Copernicus DEM Topography, Agmarknet Mandis, and Sentinel-1/2 SAR NDVI.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B2G / G2C Digital Public Infrastructure: </a:t>
            </a:r>
            <a:r>
              <a:rPr sz="1000" b="0">
                <a:solidFill>
                  <a:srgbClr val="334155"/>
                </a:solidFill>
                <a:latin typeface="Arial"/>
              </a:rPr>
              <a:t>Delivered free to smallholders by plugging directly into State Agriculture Departments, AgriStack Farmer ID, and Krishi-DSS.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50" b="1">
                <a:solidFill>
                  <a:srgbClr val="14532D"/>
                </a:solidFill>
                <a:latin typeface="Arial"/>
              </a:rPr>
              <a:t>How it addresses the problem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Eliminates 'Decision Blindness &amp; Single-Variable Bias': </a:t>
            </a:r>
            <a:r>
              <a:rPr sz="1000" b="0">
                <a:solidFill>
                  <a:srgbClr val="334155"/>
                </a:solidFill>
                <a:latin typeface="Arial"/>
              </a:rPr>
              <a:t>Farmers rush to harvest on mandi price spikes ignoring incoming 24h storms, or over-spray expensive chemicals in extreme heat, losing ₹92,000 Crore annually in distress sales and ₹35,000 Crore in wasted fertilizers.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Unified Operational Context: </a:t>
            </a:r>
            <a:r>
              <a:rPr sz="1000" b="0">
                <a:solidFill>
                  <a:srgbClr val="334155"/>
                </a:solidFill>
                <a:latin typeface="Arial"/>
              </a:rPr>
              <a:t>Resolves competing real-world trade-offs (rain probability + steep slope runoff + local labor shortages) in the background.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50" b="1">
                <a:solidFill>
                  <a:srgbClr val="14532D"/>
                </a:solidFill>
                <a:latin typeface="Arial"/>
              </a:rPr>
              <a:t>Innovation and uniqueness of the solution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Zero-Hallucination ICAR Math Engine: </a:t>
            </a:r>
            <a:r>
              <a:rPr sz="1000" b="0">
                <a:solidFill>
                  <a:srgbClr val="334155"/>
                </a:solidFill>
                <a:latin typeface="Arial"/>
              </a:rPr>
              <a:t>LLMs are barred from mathematical computation; fertilizer dosage is calculated strictly by ICAR formulas with CIBRC 15-20 kg caps.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Predictive Labor Demand Smoothing: </a:t>
            </a:r>
            <a:r>
              <a:rPr sz="1000" b="0">
                <a:solidFill>
                  <a:srgbClr val="334155"/>
                </a:solidFill>
                <a:latin typeface="Arial"/>
              </a:rPr>
              <a:t>Staggers village-level harvest windows to match local Custom Hiring Centre (CHC) machinery during labor crunches.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ClaudeMaxDedo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300" b="1">
                <a:solidFill>
                  <a:srgbClr val="14532D"/>
                </a:solidFill>
                <a:latin typeface="Arial"/>
              </a:rPr>
              <a:t>TECHNICAL APPROACH &amp; 4-LAYER AGRI-ARCHITECTURE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143000"/>
            <a:ext cx="10972800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200" b="1">
                <a:solidFill>
                  <a:srgbClr val="14532D"/>
                </a:solidFill>
                <a:latin typeface="Arial"/>
              </a:rPr>
              <a:t>Technologies to be used (e.g. programming languages, frameworks, hardware)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Telemetry &amp; Deterministic Core: </a:t>
            </a:r>
            <a:r>
              <a:rPr sz="950" b="0">
                <a:solidFill>
                  <a:srgbClr val="334155"/>
                </a:solidFill>
                <a:latin typeface="Arial"/>
              </a:rPr>
              <a:t>Open-Meteo API, SoilGrids 250m ISRIC, Copernicus DEM, Agmarknet DMI, Sentinel-1/2 SAR | Python 3.12 ICAR Soil Equations, Pydantic Type Guards.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AI Reasoning &amp; Speech Delivery: </a:t>
            </a:r>
            <a:r>
              <a:rPr sz="950" b="0">
                <a:solidFill>
                  <a:srgbClr val="334155"/>
                </a:solidFill>
                <a:latin typeface="Arial"/>
              </a:rPr>
              <a:t>LangChain / LangGraph Agentic Pipeline, ChromaDB / FAISS (Crop/Region RAG), AI4Bharat Bhashini (22 Dialects), WhatsApp Cloud API, PWA (SQLite).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4532D"/>
                </a:solidFill>
                <a:latin typeface="Arial"/>
              </a:rPr>
              <a:t>Methodology and process for implementation (Flow Charts/Images/ working prototype)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Live Working Prototype &amp; Verification: </a:t>
            </a:r>
            <a:r>
              <a:rPr sz="950" b="0">
                <a:solidFill>
                  <a:srgbClr val="334155"/>
                </a:solidFill>
                <a:latin typeface="Arial"/>
              </a:rPr>
              <a:t>Deployed live on Vercel at https://sih-2026-portfolio-two.vercel.app/krishismriti (3,000 APMCs in 3.8s, zero hallucinations, 52 tests passed).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ClaudeMaxDedo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rishismriti_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50592"/>
            <a:ext cx="1088136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300" b="1">
                <a:solidFill>
                  <a:srgbClr val="14532D"/>
                </a:solidFill>
                <a:latin typeface="Arial"/>
              </a:rPr>
              <a:t>FEASIBILITY, B2G VIABILITY &amp; ENGINEERING SAFEGUARDS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188720"/>
            <a:ext cx="1097280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50" b="1">
                <a:solidFill>
                  <a:srgbClr val="14532D"/>
                </a:solidFill>
                <a:latin typeface="Arial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B2G Public Digital Infrastructure Model: </a:t>
            </a:r>
            <a:r>
              <a:rPr sz="1000" b="0">
                <a:solidFill>
                  <a:srgbClr val="334155"/>
                </a:solidFill>
                <a:latin typeface="Arial"/>
              </a:rPr>
              <a:t>Zero subscription fees for poor farmers. Deployed via State Agriculture Departments under Digital Agriculture Mission grants.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AgriStack &amp; Krishi-DSS Interoperability: </a:t>
            </a:r>
            <a:r>
              <a:rPr sz="1000" b="0">
                <a:solidFill>
                  <a:srgbClr val="334155"/>
                </a:solidFill>
                <a:latin typeface="Arial"/>
              </a:rPr>
              <a:t>Plugs into government Farmer ID registry, pre-filling plot boundaries, ownership, and baseline soil history without manual setup.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50" b="1">
                <a:solidFill>
                  <a:srgbClr val="14532D"/>
                </a:solidFill>
                <a:latin typeface="Arial"/>
              </a:rPr>
              <a:t>Potential challenges and risks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1. Catastrophic Fertilizer Overdosing: </a:t>
            </a:r>
            <a:r>
              <a:rPr sz="1000" b="0">
                <a:solidFill>
                  <a:srgbClr val="334155"/>
                </a:solidFill>
                <a:latin typeface="Arial"/>
              </a:rPr>
              <a:t>A hallucinated chemical dosage recommendation from standard LLMs could destroy standing crops and cause bankruptcy.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2. Digital Illiteracy &amp; Text Barrier: </a:t>
            </a:r>
            <a:r>
              <a:rPr sz="1000" b="0">
                <a:solidFill>
                  <a:srgbClr val="334155"/>
                </a:solidFill>
                <a:latin typeface="Arial"/>
              </a:rPr>
              <a:t>Traditional apps with complex drop-downs, search bars, and English text fail completely with rural smallholders.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3. Rural Connectivity Dropouts: </a:t>
            </a:r>
            <a:r>
              <a:rPr sz="1000" b="0">
                <a:solidFill>
                  <a:srgbClr val="334155"/>
                </a:solidFill>
                <a:latin typeface="Arial"/>
              </a:rPr>
              <a:t>Remote farm fields frequently experience 2G/3G connectivity loss during critical sowing and spraying cycles.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4. Commercial Conflict of Interest: </a:t>
            </a:r>
            <a:r>
              <a:rPr sz="1000" b="0">
                <a:solidFill>
                  <a:srgbClr val="334155"/>
                </a:solidFill>
                <a:latin typeface="Arial"/>
              </a:rPr>
              <a:t>Private ag-tech platforms make profits by selling chemicals, creating a perverse bias toward promoting heavy pesticide usage.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50" b="1">
                <a:solidFill>
                  <a:srgbClr val="14532D"/>
                </a:solidFill>
                <a:latin typeface="Arial"/>
              </a:rPr>
              <a:t>Strategies for overcoming these challenges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1. Strict Code-Level Isolation (Math vs Language): </a:t>
            </a:r>
            <a:r>
              <a:rPr sz="1000" b="0">
                <a:solidFill>
                  <a:srgbClr val="334155"/>
                </a:solidFill>
                <a:latin typeface="Arial"/>
              </a:rPr>
              <a:t>ICAR verified Python formulas enforce hard dosage bounds (e.g. max 15-20 kg Urea/acre single split).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2. Zero-Form Iconographic &amp; Voice UI: </a:t>
            </a:r>
            <a:r>
              <a:rPr sz="1000" b="0">
                <a:solidFill>
                  <a:srgbClr val="334155"/>
                </a:solidFill>
                <a:latin typeface="Arial"/>
              </a:rPr>
              <a:t>Touchable visual cards (Kali/Laal Mitti, crop growth phases) + one-button Bhashini audio interaction.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3. Offline-First PWA Edge Caching: </a:t>
            </a:r>
            <a:r>
              <a:rPr sz="1000" b="0">
                <a:solidFill>
                  <a:srgbClr val="334155"/>
                </a:solidFill>
                <a:latin typeface="Arial"/>
              </a:rPr>
              <a:t>Core agronomy calculators and regional crop calendars are saved locally on device via SQLite.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4. Vendor-Neutral Public Utility: </a:t>
            </a:r>
            <a:r>
              <a:rPr sz="1000" b="0">
                <a:solidFill>
                  <a:srgbClr val="334155"/>
                </a:solidFill>
                <a:latin typeface="Arial"/>
              </a:rPr>
              <a:t>Unbiased operational guidance frequently instructs farmers NOT to buy or spray chemicals when weather makes them ineffective.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ClaudeMaxDedo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300" b="1">
                <a:solidFill>
                  <a:srgbClr val="14532D"/>
                </a:solidFill>
                <a:latin typeface="Arial"/>
              </a:rPr>
              <a:t>SOCIO-ECONOMIC IMPACT &amp; NATIONAL SCALABILITY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188720"/>
            <a:ext cx="1097280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50" b="1">
                <a:solidFill>
                  <a:srgbClr val="14532D"/>
                </a:solidFill>
                <a:latin typeface="Arial"/>
              </a:rPr>
              <a:t>Potential impact on the target audience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140 Million Smallholders: </a:t>
            </a:r>
            <a:r>
              <a:rPr sz="1000" b="0">
                <a:solidFill>
                  <a:srgbClr val="334155"/>
                </a:solidFill>
                <a:latin typeface="Arial"/>
              </a:rPr>
              <a:t>Transforms reactive farm decisions into proactive daily actions, saving ₹25,000–₹45,000 per acre in input costs and distress sales.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Agricultural Extension Officers (Krishi Sakhis): </a:t>
            </a:r>
            <a:r>
              <a:rPr sz="1000" b="0">
                <a:solidFill>
                  <a:srgbClr val="334155"/>
                </a:solidFill>
                <a:latin typeface="Arial"/>
              </a:rPr>
              <a:t>Overcomes India's 1:1,500 extension worker deficit by providing field workers with a 24/7 AI advisory co-pilot on tablets.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Custom Hiring Centres (CHCs): </a:t>
            </a:r>
            <a:r>
              <a:rPr sz="1000" b="0">
                <a:solidFill>
                  <a:srgbClr val="334155"/>
                </a:solidFill>
                <a:latin typeface="Arial"/>
              </a:rPr>
              <a:t>Optimizes local tractor and combined harvester fleet utilization through pooled village-level schedule aggregation.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Policy Makers &amp; State Departments: </a:t>
            </a:r>
            <a:r>
              <a:rPr sz="1000" b="0">
                <a:solidFill>
                  <a:srgbClr val="334155"/>
                </a:solidFill>
                <a:latin typeface="Arial"/>
              </a:rPr>
              <a:t>Aggregated, anonymized telemetry delivers real-time crisis data on pest outbreaks and regional crop distress.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50" b="1">
                <a:solidFill>
                  <a:srgbClr val="14532D"/>
                </a:solidFill>
                <a:latin typeface="Arial"/>
              </a:rPr>
              <a:t>Benefits of the solution (social, economic, environmental, etc.)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Economic Viability: </a:t>
            </a:r>
            <a:r>
              <a:rPr sz="1000" b="0">
                <a:solidFill>
                  <a:srgbClr val="334155"/>
                </a:solidFill>
                <a:latin typeface="Arial"/>
              </a:rPr>
              <a:t>Directly curbs ₹50,000–₹90,000 Cr in market timing losses and ₹25,000–₹35,000 Cr in misapplied agro-chemical expenditures.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Social Equity: </a:t>
            </a:r>
            <a:r>
              <a:rPr sz="1000" b="0">
                <a:solidFill>
                  <a:srgbClr val="334155"/>
                </a:solidFill>
                <a:latin typeface="Arial"/>
              </a:rPr>
              <a:t>Full vernacular accessibility across 22 official languages and colloquial dialects (Varhadi Marathi, Bundelkhandi, Malwi).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Environmental Restoration: </a:t>
            </a:r>
            <a:r>
              <a:rPr sz="1000" b="0">
                <a:solidFill>
                  <a:srgbClr val="334155"/>
                </a:solidFill>
                <a:latin typeface="Arial"/>
              </a:rPr>
              <a:t>Reverses soil acidification and nitrogen runoff by enforcing scientific fertilizer balance on 33+ million hectares.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ClaudeMaxDedo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300" b="1">
                <a:solidFill>
                  <a:srgbClr val="14532D"/>
                </a:solidFill>
                <a:latin typeface="Arial"/>
              </a:rPr>
              <a:t>RESEARCH FOUNDATIONS &amp; OFFICIAL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188720"/>
            <a:ext cx="1097280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50" b="1">
                <a:solidFill>
                  <a:srgbClr val="14532D"/>
                </a:solidFill>
                <a:latin typeface="Arial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ICAR Package of Practices Guidelines: </a:t>
            </a:r>
            <a:r>
              <a:rPr sz="1000" b="0">
                <a:solidFill>
                  <a:srgbClr val="334155"/>
                </a:solidFill>
                <a:latin typeface="Arial"/>
              </a:rPr>
              <a:t>Indian Council of Agricultural Research (ICAR) official agronomic manuals and nutrient balance standards.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Digital Agriculture Mission &amp; AgriStack: </a:t>
            </a:r>
            <a:r>
              <a:rPr sz="1000" b="0">
                <a:solidFill>
                  <a:srgbClr val="334155"/>
                </a:solidFill>
                <a:latin typeface="Arial"/>
              </a:rPr>
              <a:t>Ministry of Agriculture &amp; Farmers Welfare, Press Information Bureau (PIB) Official Framework Documentation, 2024.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CIBRC Insecticide Safety Guidelines: </a:t>
            </a:r>
            <a:r>
              <a:rPr sz="1000" b="0">
                <a:solidFill>
                  <a:srgbClr val="334155"/>
                </a:solidFill>
                <a:latin typeface="Arial"/>
              </a:rPr>
              <a:t>Central Insecticides Board &amp; Registration Committee safe dosage limits, wash-off thresholds, and pre-harvest intervals.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NITI Aayog Agricultural Economics Study: </a:t>
            </a:r>
            <a:r>
              <a:rPr sz="1000" b="0">
                <a:solidFill>
                  <a:srgbClr val="334155"/>
                </a:solidFill>
                <a:latin typeface="Arial"/>
              </a:rPr>
              <a:t>Changing Cost of Crop Production and Economic Viability in Indian Agriculture (Srivastava et al.).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Soil Health Card (SHC) Scheme Data: </a:t>
            </a:r>
            <a:r>
              <a:rPr sz="1000" b="0">
                <a:solidFill>
                  <a:srgbClr val="334155"/>
                </a:solidFill>
                <a:latin typeface="Arial"/>
              </a:rPr>
              <a:t>Department of Agriculture &amp; Farmers Welfare, 12-parameter soil fertility analysis standards.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Live Production Prototype &amp; Source Code: </a:t>
            </a:r>
            <a:r>
              <a:rPr sz="1000" b="0">
                <a:solidFill>
                  <a:srgbClr val="334155"/>
                </a:solidFill>
                <a:latin typeface="Arial"/>
              </a:rPr>
              <a:t>Evaluator Portal: https://sih-2026-portfolio-two.vercel.app/krishismriti | GitHub: https://github.com/lohitakshcodes/claudemaxdedo-sih2026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ClaudeMaxDedo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