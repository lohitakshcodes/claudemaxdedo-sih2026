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Problem Statement ID –</a:t>
            </a:r>
            <a:r>
              <a:rPr sz="1700" b="0">
                <a:solidFill>
                  <a:srgbClr val="166534"/>
                </a:solidFill>
                <a:latin typeface="Arial"/>
              </a:rPr>
              <a:t> SIH26193</a:t>
            </a:r>
            <a:endParaRPr lang="en-US" dirty="0"/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Problem Statement Title-</a:t>
            </a:r>
            <a:r>
              <a:rPr sz="1700" b="0">
                <a:solidFill>
                  <a:srgbClr val="166534"/>
                </a:solidFill>
                <a:latin typeface="Arial"/>
              </a:rPr>
              <a:t> AI-Powered Real-Time Agricultural Advisory &amp; Operational Decision Co-Pilot (KrishiSmriti)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Theme-</a:t>
            </a:r>
            <a:r>
              <a:rPr sz="1700" b="0">
                <a:solidFill>
                  <a:srgbClr val="166534"/>
                </a:solidFill>
                <a:latin typeface="Arial"/>
              </a:rPr>
              <a:t> Agriculture, FoodTech &amp; Rural Development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PS Category-</a:t>
            </a:r>
            <a:r>
              <a:rPr sz="1700" b="0">
                <a:solidFill>
                  <a:srgbClr val="166534"/>
                </a:solidFill>
                <a:latin typeface="Arial"/>
              </a:rPr>
              <a:t> Software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Team ID-</a:t>
            </a:r>
            <a:r>
              <a:rPr sz="1700" b="0">
                <a:solidFill>
                  <a:srgbClr val="166534"/>
                </a:solidFill>
                <a:latin typeface="Arial"/>
              </a:rPr>
              <a:t> [Team ID]</a:t>
            </a:r>
          </a:p>
          <a:p>
            <a:pPr>
              <a:spcBef>
                <a:spcPts val="400"/>
              </a:spcBef>
              <a:spcAft>
                <a:spcPts val="1000"/>
              </a:spcAft>
              <a:buNone/>
            </a:pPr>
            <a:r>
              <a:rPr sz="1800" b="1">
                <a:solidFill>
                  <a:srgbClr val="0F172A"/>
                </a:solidFill>
                <a:latin typeface="Arial"/>
              </a:rPr>
              <a:t>Team Name (Registered on portal)-</a:t>
            </a:r>
            <a:r>
              <a:rPr sz="1700" b="0">
                <a:solidFill>
                  <a:srgbClr val="166534"/>
                </a:solidFill>
                <a:latin typeface="Arial"/>
              </a:rPr>
              <a:t> ClaudeMaxDedo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4532D"/>
                </a:solidFill>
                <a:latin typeface="Arial"/>
              </a:rPr>
              <a:t>KRISHISMRITI — DETERMINISTIC AGRO-INTELLIGENCE &amp; SECOND BRAIN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94360" y="1115568"/>
            <a:ext cx="489204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KrishiSmriti Decision Engine: </a:t>
            </a:r>
            <a:r>
              <a:rPr sz="950" b="0">
                <a:solidFill>
                  <a:srgbClr val="334155"/>
                </a:solidFill>
                <a:latin typeface="Arial"/>
              </a:rPr>
              <a:t>An AI-powered 'Second Brain' for smallholder farmers synthesizing weather, 12-parameter soil health, mandi prices, and local labor into a single, daily decisive action plan.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Detailed explanation of the proposed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4-Layer Autonomous Architecture: </a:t>
            </a:r>
            <a:r>
              <a:rPr sz="950" b="0">
                <a:solidFill>
                  <a:srgbClr val="334155"/>
                </a:solidFill>
                <a:latin typeface="Arial"/>
              </a:rPr>
              <a:t>Separates multi-source telemetry ingestion from deterministic ICAR math guardrails, vector RAG, and vernacular voice delivery.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5 Parallel Telemetry APIs: </a:t>
            </a:r>
            <a:r>
              <a:rPr sz="950" b="0">
                <a:solidFill>
                  <a:srgbClr val="334155"/>
                </a:solidFill>
                <a:latin typeface="Arial"/>
              </a:rPr>
              <a:t>GPS pin triggers simultaneous calls to Open-Meteo, SoilGrids 250m, Copernicus DEM, Agmarknet, and Sentinel-1/2 SAR.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How it addresses the problem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Eliminates Decision Blindness: </a:t>
            </a:r>
            <a:r>
              <a:rPr sz="950" b="0">
                <a:solidFill>
                  <a:srgbClr val="334155"/>
                </a:solidFill>
                <a:latin typeface="Arial"/>
              </a:rPr>
              <a:t>Farmers rush to harvest on price spikes or over-spray in heat, losing ₹92,000 Cr in distress sales and ₹35,000 Cr in wasted fertilizers.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Unified Operational Context: </a:t>
            </a:r>
            <a:r>
              <a:rPr sz="950" b="0">
                <a:solidFill>
                  <a:srgbClr val="334155"/>
                </a:solidFill>
                <a:latin typeface="Arial"/>
              </a:rPr>
              <a:t>Resolves competing real-world trade-offs (rain probability + slope runoff + labor shortage) in the background.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Innovation and uniqueness of the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Zero-Hallucination ICAR Math Engine: </a:t>
            </a:r>
            <a:r>
              <a:rPr sz="950" b="0">
                <a:solidFill>
                  <a:srgbClr val="334155"/>
                </a:solidFill>
                <a:latin typeface="Arial"/>
              </a:rPr>
              <a:t>LLMs barred from math; fertilizer dosing calculated by ICAR formulas with CIBRC 15-20 kg/acre caps.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Predictive Labor Demand Smoothing: </a:t>
            </a:r>
            <a:r>
              <a:rPr sz="950" b="0">
                <a:solidFill>
                  <a:srgbClr val="334155"/>
                </a:solidFill>
                <a:latin typeface="Arial"/>
              </a:rPr>
              <a:t>Staggers village harvest windows to match local Custom Hiring Centre (CHC) machinery fleets.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agrigpt_concept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234440"/>
            <a:ext cx="60807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4532D"/>
                </a:solidFill>
                <a:latin typeface="Arial"/>
              </a:rPr>
              <a:t>TECHNICAL APPROACH &amp; 4-LAYER AGRI-ARCHITECTURE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078992"/>
            <a:ext cx="10972800" cy="1234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4532D"/>
                </a:solidFill>
                <a:latin typeface="Arial"/>
              </a:rPr>
              <a:t>Technologies to be used (e.g. programming languages, frameworks, hardware)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Telemetry &amp; Deterministic Core: </a:t>
            </a:r>
            <a:r>
              <a:rPr sz="950" b="0">
                <a:solidFill>
                  <a:srgbClr val="334155"/>
                </a:solidFill>
                <a:latin typeface="Arial"/>
              </a:rPr>
              <a:t>Open-Meteo API, SoilGrids 250m ISRIC, Copernicus DEM, Agmarknet DMI, Sentinel-1/2 SAR | Python 3.12 ICAR Soil Equations, Pydantic Type Guards.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AI Reasoning &amp; Speech Delivery: </a:t>
            </a:r>
            <a:r>
              <a:rPr sz="950" b="0">
                <a:solidFill>
                  <a:srgbClr val="334155"/>
                </a:solidFill>
                <a:latin typeface="Arial"/>
              </a:rPr>
              <a:t>LangChain / LangGraph Agentic Pipeline, ChromaDB / FAISS (Crop/Region RAG), AI4Bharat Bhashini (22 Dialects), WhatsApp Cloud API, PWA (SQLite).</a:t>
            </a:r>
          </a:p>
          <a:p>
            <a:pPr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4532D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Live Working Prototype &amp; Verification: </a:t>
            </a:r>
            <a:r>
              <a:rPr sz="950" b="0">
                <a:solidFill>
                  <a:srgbClr val="334155"/>
                </a:solidFill>
                <a:latin typeface="Arial"/>
              </a:rPr>
              <a:t>Deployed live on Vercel at https://sih-2026-portfolio-two.vercel.app/krishismriti (3,000 APMCs in 3.8s, zero hallucinations, 52 tests passed).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rishismriti_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1090879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4532D"/>
                </a:solidFill>
                <a:latin typeface="Arial"/>
              </a:rPr>
              <a:t>FEASIBILITY, B2G VIABILITY &amp; ENGINEERING SAFEGUARDS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078992"/>
            <a:ext cx="10972800" cy="1234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ClrTx/>
              <a:buSzTx/>
              <a:tabLst/>
              <a:defRPr/>
              <a:buNone/>
            </a:pPr>
            <a:r>
              <a:rPr sz="1100" b="1">
                <a:solidFill>
                  <a:srgbClr val="14532D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B2G Public Digital Infrastructure Model: </a:t>
            </a:r>
            <a:r>
              <a:rPr sz="950" b="0">
                <a:solidFill>
                  <a:srgbClr val="334155"/>
                </a:solidFill>
                <a:latin typeface="Arial"/>
              </a:rPr>
              <a:t>Zero subscription fees for poor farmers. Deployed via State Agriculture Departments under Digital Agriculture Mission grants (AgriStack + Krishi-DSS).</a:t>
            </a:r>
          </a:p>
          <a:p>
            <a:pPr>
              <a:spcBef>
                <a:spcPts val="300"/>
              </a:spcBef>
              <a:spcAft>
                <a:spcPts val="100"/>
              </a:spcAft>
              <a:buNone/>
            </a:pPr>
            <a:r>
              <a:rPr sz="1100" b="1">
                <a:solidFill>
                  <a:srgbClr val="14532D"/>
                </a:solidFill>
                <a:latin typeface="Arial"/>
              </a:rPr>
              <a:t>Potential challenges and risks &amp; Strategies for overcoming these challenges</a:t>
            </a:r>
          </a:p>
          <a:p>
            <a:pPr>
              <a:spcBef>
                <a:spcPts val="100"/>
              </a:spcBef>
              <a:spcAft>
                <a:spcPts val="1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4-Point Engineering Safeguards: </a:t>
            </a:r>
            <a:r>
              <a:rPr sz="950" b="0">
                <a:solidFill>
                  <a:srgbClr val="334155"/>
                </a:solidFill>
                <a:latin typeface="Arial"/>
              </a:rPr>
              <a:t>ICAR hardcoded formulas stop chemical overdose; visual cards bypass illiteracy; SQLite edge cache solves offline fields; vendor-neutral model eliminates sales bias.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rishismriti_safeguards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10908792" cy="384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4532D"/>
                </a:solidFill>
                <a:latin typeface="Arial"/>
              </a:rPr>
              <a:t>SOCIO-ECONOMIC IMPACT &amp; NATIONAL SCALABILITY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115568"/>
            <a:ext cx="489204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  <a:buClrTx/>
              <a:buSzTx/>
              <a:tabLst/>
              <a:defRPr/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Potential impact on the target audience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140 Million Smallholders: </a:t>
            </a:r>
            <a:r>
              <a:rPr sz="950" b="0">
                <a:solidFill>
                  <a:srgbClr val="334155"/>
                </a:solidFill>
                <a:latin typeface="Arial"/>
              </a:rPr>
              <a:t>Transforms reactive farm decisions into proactive daily actions, saving ₹25,000–₹45,000 per acre in input costs and distress sales.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Agricultural Extension Officers (Krishi Sakhis): </a:t>
            </a:r>
            <a:r>
              <a:rPr sz="950" b="0">
                <a:solidFill>
                  <a:srgbClr val="334155"/>
                </a:solidFill>
                <a:latin typeface="Arial"/>
              </a:rPr>
              <a:t>Overcomes India's 1:1,500 extension worker deficit with 24/7 AI co-pilot on tablets.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Custom Hiring Centres (CHCs): </a:t>
            </a:r>
            <a:r>
              <a:rPr sz="950" b="0">
                <a:solidFill>
                  <a:srgbClr val="334155"/>
                </a:solidFill>
                <a:latin typeface="Arial"/>
              </a:rPr>
              <a:t>Optimizes tractor and harvester fleet utilization through pooled village-level schedule aggregation.</a:t>
            </a:r>
          </a:p>
          <a:p>
            <a:pPr>
              <a:spcBef>
                <a:spcPts val="400"/>
              </a:spcBef>
              <a:spcAft>
                <a:spcPts val="100"/>
              </a:spcAft>
              <a:buNone/>
            </a:pPr>
            <a:r>
              <a:rPr sz="1150" b="1">
                <a:solidFill>
                  <a:srgbClr val="14532D"/>
                </a:solidFill>
                <a:latin typeface="Arial"/>
              </a:rPr>
              <a:t>Benefits of the solution (social, economic, environmental, etc.)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Economic Viability: </a:t>
            </a:r>
            <a:r>
              <a:rPr sz="950" b="0">
                <a:solidFill>
                  <a:srgbClr val="334155"/>
                </a:solidFill>
                <a:latin typeface="Arial"/>
              </a:rPr>
              <a:t>Directly curbs ₹50,000–₹90,000 Cr in market timing losses and ₹25,000–₹35,000 Cr in misapplied chemicals.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Social Equity: </a:t>
            </a:r>
            <a:r>
              <a:rPr sz="950" b="0">
                <a:solidFill>
                  <a:srgbClr val="334155"/>
                </a:solidFill>
                <a:latin typeface="Arial"/>
              </a:rPr>
              <a:t>Full vernacular accessibility across 22 official languages and colloquial dialects (Varhadi Marathi, Bundelkhandi, Malwi).</a:t>
            </a:r>
          </a:p>
          <a:p>
            <a:pPr>
              <a:spcBef>
                <a:spcPts val="100"/>
              </a:spcBef>
              <a:spcAft>
                <a:spcPts val="200"/>
              </a:spcAft>
              <a:buNone/>
            </a:pPr>
            <a:r>
              <a:rPr sz="950" b="1">
                <a:solidFill>
                  <a:srgbClr val="0F172A"/>
                </a:solidFill>
                <a:latin typeface="Arial"/>
              </a:rPr>
              <a:t>• Environmental Restoration: </a:t>
            </a:r>
            <a:r>
              <a:rPr sz="950" b="0">
                <a:solidFill>
                  <a:srgbClr val="334155"/>
                </a:solidFill>
                <a:latin typeface="Arial"/>
              </a:rPr>
              <a:t>Reverses soil acidification and nitrogen runoff by enforcing scientific fertilizer balance on 33+ million hectares.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grigpt_impact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234440"/>
            <a:ext cx="6080760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7955279" cy="868680"/>
          </a:xfrm>
        </p:spPr>
        <p:txBody>
          <a:bodyPr wrap="square"/>
          <a:lstStyle/>
          <a:p>
            <a:pPr eaLnBrk="1" hangingPunct="1" algn="l">
              <a:buNone/>
            </a:pPr>
            <a:r>
              <a:rPr sz="1900" b="1">
                <a:solidFill>
                  <a:srgbClr val="14532D"/>
                </a:solidFill>
                <a:latin typeface="Arial"/>
              </a:rPr>
              <a:t>RESEARCH FOUNDATIONS &amp; OFFICIAL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94360" y="1143000"/>
            <a:ext cx="109728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Tx/>
              <a:buSzTx/>
              <a:tabLst/>
              <a:defRPr/>
              <a:buNone/>
            </a:pPr>
            <a:r>
              <a:rPr sz="1200" b="1">
                <a:solidFill>
                  <a:srgbClr val="14532D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ICAR Package of Practices Guidelines: </a:t>
            </a:r>
            <a:r>
              <a:rPr sz="1000" b="0">
                <a:solidFill>
                  <a:srgbClr val="334155"/>
                </a:solidFill>
                <a:latin typeface="Arial"/>
              </a:rPr>
              <a:t>Indian Council of Agricultural Research (ICAR) official agronomic manuals and nutrient balance standards.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Digital Agriculture Mission &amp; AgriStack: </a:t>
            </a:r>
            <a:r>
              <a:rPr sz="1000" b="0">
                <a:solidFill>
                  <a:srgbClr val="334155"/>
                </a:solidFill>
                <a:latin typeface="Arial"/>
              </a:rPr>
              <a:t>Ministry of Agriculture &amp; Farmers Welfare, Press Information Bureau (PIB) Official Framework Documentation, 2024.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CIBRC Insecticide Safety Guidelines: </a:t>
            </a:r>
            <a:r>
              <a:rPr sz="1000" b="0">
                <a:solidFill>
                  <a:srgbClr val="334155"/>
                </a:solidFill>
                <a:latin typeface="Arial"/>
              </a:rPr>
              <a:t>Central Insecticides Board &amp; Registration Committee safe dosage limits, wash-off thresholds, and pre-harvest intervals.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NITI Aayog Agricultural Economics Study: </a:t>
            </a:r>
            <a:r>
              <a:rPr sz="1000" b="0">
                <a:solidFill>
                  <a:srgbClr val="334155"/>
                </a:solidFill>
                <a:latin typeface="Arial"/>
              </a:rPr>
              <a:t>Changing Cost of Crop Production and Economic Viability in Indian Agriculture (Srivastava et al.).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Soil Health Card (SHC) Scheme Data: </a:t>
            </a:r>
            <a:r>
              <a:rPr sz="1000" b="0">
                <a:solidFill>
                  <a:srgbClr val="334155"/>
                </a:solidFill>
                <a:latin typeface="Arial"/>
              </a:rPr>
              <a:t>Department of Agriculture &amp; Farmers Welfare, 12-parameter soil fertility analysis standards.</a:t>
            </a:r>
          </a:p>
          <a:p>
            <a:pPr>
              <a:spcBef>
                <a:spcPts val="2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172A"/>
                </a:solidFill>
                <a:latin typeface="Arial"/>
              </a:rPr>
              <a:t>• Live Production Prototype &amp; Source Code: </a:t>
            </a:r>
            <a:r>
              <a:rPr sz="1000" b="0">
                <a:solidFill>
                  <a:srgbClr val="334155"/>
                </a:solidFill>
                <a:latin typeface="Arial"/>
              </a:rPr>
              <a:t>Evaluator Portal: https://sih-2026-portfolio-two.vercel.app/krishismriti | GitHub: https://github.com/lohitakshcodes/claudemaxdedo-sih2026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050" b="1">
                <a:solidFill>
                  <a:srgbClr val="14532D"/>
                </a:solidFill>
                <a:latin typeface="Arial"/>
              </a:rPr>
              <a:t>ClaudeMaxDedo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